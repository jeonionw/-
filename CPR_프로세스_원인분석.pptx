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7a42344d-45e6-9dce-e7af-cd0147948d98}">
          <p14:sldIdLst>
            <p14:sldId id="256"/>
            <p14:sldId id="257"/>
          </p14:sldIdLst>
        </p14:section>
        <p14:section name="프로세스 분석" id="{6bd83234-27c8-f79e-8f24-914032e74955}">
          <p14:sldIdLst>
            <p14:sldId id="258"/>
            <p14:sldId id="259"/>
          </p14:sldIdLst>
        </p14:section>
        <p14:section name="원인 분석" id="{698c2301-ebd9-7189-2a46-ae1947639d3a}">
          <p14:sldIdLst>
            <p14:sldId id="260"/>
            <p14:sldId id="261"/>
            <p14:sldId id="262"/>
            <p14:sldId id="263"/>
            <p14:sldId id="264"/>
          </p14:sldIdLst>
        </p14:section>
        <p14:section name="종합" id="{9b74898d-adb9-86d4-7adc-73c463b3f651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CPR 프로세스 분석 · 원인분석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CPR 프로세스 분석과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원인분석(Fishbone·5 Why)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1,000병상 급성기병원 심폐소생술 FMEA 후속 분석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본 자료의 사례와 점수는 일반적 병원 상황을 가정한 분석 예시이며, 실제 원인은 현장 조사와 자체 데이터로 검증해야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요약</a:t>
            </a:r>
            <a:endParaRPr lang="en-US" sz="3000" dirty="0"/>
          </a:p>
        </p:txBody>
      </p:sp>
      <p:sp>
        <p:nvSpPr>
          <p:cNvPr id="3" name="부제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세 가지 대표 문제를 5 Why로 파고들면 같은 뿌리에 닿습니다</a:t>
            </a:r>
            <a:endParaRPr lang="en-US" sz="1400" dirty="0"/>
          </a:p>
        </p:txBody>
      </p:sp>
      <p:sp>
        <p:nvSpPr>
          <p:cNvPr id="4" name="요약카드1"/>
          <p:cNvSpPr/>
          <p:nvPr/>
        </p:nvSpPr>
        <p:spPr>
          <a:xfrm>
            <a:off x="457200" y="1417320"/>
            <a:ext cx="361188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제세동 지연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대표 문제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871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호출~제세동 시간이 2분을 넘김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20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가장 깊은 원인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8130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측정·환류 체계가 없어 지연이 드러나지 않음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846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핵심 대책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1389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배치 기준, 시간 지표, 코드 후 디브리핑</a:t>
            </a:r>
            <a:endParaRPr lang="en-US" sz="1500" dirty="0"/>
          </a:p>
        </p:txBody>
      </p:sp>
      <p:sp>
        <p:nvSpPr>
          <p:cNvPr id="12" name="요약카드2"/>
          <p:cNvSpPr/>
          <p:nvPr/>
        </p:nvSpPr>
        <p:spPr>
          <a:xfrm>
            <a:off x="4251960" y="1417320"/>
            <a:ext cx="361188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자격 미비 인력 투입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94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대표 문제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4871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만료·미이수자가 코드팀에 배치됨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520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가장 깊은 원인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8130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자격 관리의 책임·지표·시스템이 없음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846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핵심 대책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51389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필수 자격 매트릭스, LMS·근무표 연계</a:t>
            </a:r>
            <a:endParaRPr lang="en-US" sz="1500" dirty="0"/>
          </a:p>
        </p:txBody>
      </p:sp>
      <p:sp>
        <p:nvSpPr>
          <p:cNvPr id="20" name="요약카드3"/>
          <p:cNvSpPr/>
          <p:nvPr/>
        </p:nvSpPr>
        <p:spPr>
          <a:xfrm>
            <a:off x="8046720" y="1417320"/>
            <a:ext cx="361188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병동 인지·호출 지연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194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대표 문제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48716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호출 번호와 기준이 현장에서 작동하지 않음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3520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가장 깊은 원인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38130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현장(in-situ) 훈련 체계가 없음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846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핵심 대책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1389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단일 호출번호, 병동 불시·야간 훈련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CPR 프로세스 분석도</a:t>
            </a:r>
            <a:endParaRPr lang="en-US" sz="3000" dirty="0"/>
          </a:p>
        </p:txBody>
      </p:sp>
      <p:sp>
        <p:nvSpPr>
          <p:cNvPr id="3" name="부제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원내 심정지 대응 6단계와 FMEA에서 확인된 고장 지점</a:t>
            </a:r>
            <a:endParaRPr lang="en-US" sz="1400" dirty="0"/>
          </a:p>
        </p:txBody>
      </p:sp>
      <p:sp>
        <p:nvSpPr>
          <p:cNvPr id="4" name="단계1"/>
          <p:cNvSpPr/>
          <p:nvPr/>
        </p:nvSpPr>
        <p:spPr>
          <a:xfrm>
            <a:off x="365760" y="1371600"/>
            <a:ext cx="1682496" cy="8686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예방·조기경고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P1</a:t>
            </a:r>
            <a:endParaRPr lang="en-US" sz="1400" dirty="0"/>
          </a:p>
        </p:txBody>
      </p:sp>
      <p:sp>
        <p:nvSpPr>
          <p:cNvPr id="6" name="화살표1"/>
          <p:cNvSpPr/>
          <p:nvPr/>
        </p:nvSpPr>
        <p:spPr>
          <a:xfrm>
            <a:off x="2084832" y="1664208"/>
            <a:ext cx="201168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고장카드1"/>
          <p:cNvSpPr/>
          <p:nvPr/>
        </p:nvSpPr>
        <p:spPr>
          <a:xfrm>
            <a:off x="365760" y="2377440"/>
            <a:ext cx="1682496" cy="2880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68880"/>
            <a:ext cx="14996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NEWS 미산정·측정 누락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이상 보고 지연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DNR 표시 불일치</a:t>
            </a:r>
            <a:endParaRPr lang="en-US" sz="1200" dirty="0"/>
          </a:p>
        </p:txBody>
      </p:sp>
      <p:sp>
        <p:nvSpPr>
          <p:cNvPr id="9" name="단계2"/>
          <p:cNvSpPr/>
          <p:nvPr/>
        </p:nvSpPr>
        <p:spPr>
          <a:xfrm>
            <a:off x="2322576" y="1371600"/>
            <a:ext cx="1682496" cy="8686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95728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심정지 인지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P2</a:t>
            </a:r>
            <a:endParaRPr lang="en-US" sz="1400" dirty="0"/>
          </a:p>
        </p:txBody>
      </p:sp>
      <p:sp>
        <p:nvSpPr>
          <p:cNvPr id="11" name="화살표2"/>
          <p:cNvSpPr/>
          <p:nvPr/>
        </p:nvSpPr>
        <p:spPr>
          <a:xfrm>
            <a:off x="4041648" y="1664208"/>
            <a:ext cx="201168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고장카드2"/>
          <p:cNvSpPr/>
          <p:nvPr/>
        </p:nvSpPr>
        <p:spPr>
          <a:xfrm>
            <a:off x="2322576" y="2377440"/>
            <a:ext cx="1682496" cy="2880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14016" y="2468880"/>
            <a:ext cx="14996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agonal 호흡 오판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맥박 확인에 시간 소비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알람 피로로 방치</a:t>
            </a:r>
            <a:endParaRPr lang="en-US" sz="1200" dirty="0"/>
          </a:p>
        </p:txBody>
      </p:sp>
      <p:sp>
        <p:nvSpPr>
          <p:cNvPr id="14" name="단계3"/>
          <p:cNvSpPr/>
          <p:nvPr/>
        </p:nvSpPr>
        <p:spPr>
          <a:xfrm>
            <a:off x="4279392" y="1371600"/>
            <a:ext cx="1682496" cy="8686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52544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코드 호출·전파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P3</a:t>
            </a:r>
            <a:endParaRPr lang="en-US" sz="1400" dirty="0"/>
          </a:p>
        </p:txBody>
      </p:sp>
      <p:sp>
        <p:nvSpPr>
          <p:cNvPr id="16" name="화살표3"/>
          <p:cNvSpPr/>
          <p:nvPr/>
        </p:nvSpPr>
        <p:spPr>
          <a:xfrm>
            <a:off x="5998464" y="1664208"/>
            <a:ext cx="201168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고장카드3"/>
          <p:cNvSpPr/>
          <p:nvPr/>
        </p:nvSpPr>
        <p:spPr>
          <a:xfrm>
            <a:off x="4279392" y="2377440"/>
            <a:ext cx="1682496" cy="2880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70832" y="2468880"/>
            <a:ext cx="14996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단일 번호 없음·내선 불통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위치 오전달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엘리베이터·출입통제 지연</a:t>
            </a:r>
            <a:endParaRPr lang="en-US" sz="1200" dirty="0"/>
          </a:p>
        </p:txBody>
      </p:sp>
      <p:sp>
        <p:nvSpPr>
          <p:cNvPr id="19" name="단계4"/>
          <p:cNvSpPr/>
          <p:nvPr/>
        </p:nvSpPr>
        <p:spPr>
          <a:xfrm>
            <a:off x="6236208" y="1371600"/>
            <a:ext cx="1682496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 초기 소생술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P4</a:t>
            </a:r>
            <a:endParaRPr lang="en-US" sz="1400" dirty="0"/>
          </a:p>
        </p:txBody>
      </p:sp>
      <p:sp>
        <p:nvSpPr>
          <p:cNvPr id="21" name="화살표4"/>
          <p:cNvSpPr/>
          <p:nvPr/>
        </p:nvSpPr>
        <p:spPr>
          <a:xfrm>
            <a:off x="7955280" y="1664208"/>
            <a:ext cx="201168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고장카드4"/>
          <p:cNvSpPr/>
          <p:nvPr/>
        </p:nvSpPr>
        <p:spPr>
          <a:xfrm>
            <a:off x="6236208" y="2377440"/>
            <a:ext cx="1682496" cy="2880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27648" y="2468880"/>
            <a:ext cx="14996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압박 시작 지연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깊이·속도 부족, 중단 과다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제세동기 도착 지연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배터리·패드 불량</a:t>
            </a:r>
            <a:endParaRPr lang="en-US" sz="1200" dirty="0"/>
          </a:p>
        </p:txBody>
      </p:sp>
      <p:sp>
        <p:nvSpPr>
          <p:cNvPr id="24" name="단계5"/>
          <p:cNvSpPr/>
          <p:nvPr/>
        </p:nvSpPr>
        <p:spPr>
          <a:xfrm>
            <a:off x="8193024" y="1371600"/>
            <a:ext cx="1682496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6176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 전문소생술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P5</a:t>
            </a:r>
            <a:endParaRPr lang="en-US" sz="1400" dirty="0"/>
          </a:p>
        </p:txBody>
      </p:sp>
      <p:sp>
        <p:nvSpPr>
          <p:cNvPr id="26" name="화살표5"/>
          <p:cNvSpPr/>
          <p:nvPr/>
        </p:nvSpPr>
        <p:spPr>
          <a:xfrm>
            <a:off x="9912096" y="1664208"/>
            <a:ext cx="201168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고장카드5"/>
          <p:cNvSpPr/>
          <p:nvPr/>
        </p:nvSpPr>
        <p:spPr>
          <a:xfrm>
            <a:off x="8193024" y="2377440"/>
            <a:ext cx="1682496" cy="2880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4464" y="2468880"/>
            <a:ext cx="14996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제세동 지연·Sync 잔존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약물 용량 오류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삽관 위치 미확인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H&amp;T 감별 누락</a:t>
            </a:r>
            <a:endParaRPr lang="en-US" sz="1200" dirty="0"/>
          </a:p>
        </p:txBody>
      </p:sp>
      <p:sp>
        <p:nvSpPr>
          <p:cNvPr id="29" name="단계6"/>
          <p:cNvSpPr/>
          <p:nvPr/>
        </p:nvSpPr>
        <p:spPr>
          <a:xfrm>
            <a:off x="10149840" y="1371600"/>
            <a:ext cx="1682496" cy="8686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222992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 소생 후 치료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P8</a:t>
            </a:r>
            <a:endParaRPr lang="en-US" sz="1400" dirty="0"/>
          </a:p>
        </p:txBody>
      </p:sp>
      <p:sp>
        <p:nvSpPr>
          <p:cNvPr id="31" name="고장카드6"/>
          <p:cNvSpPr/>
          <p:nvPr/>
        </p:nvSpPr>
        <p:spPr>
          <a:xfrm>
            <a:off x="10149840" y="2377440"/>
            <a:ext cx="1682496" cy="2880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41280" y="2468880"/>
            <a:ext cx="149961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목표 혈압·산소 미달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TTM 미적용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병상 부족, 이송 중 재정지</a:t>
            </a:r>
            <a:endParaRPr lang="en-US" sz="1200" dirty="0"/>
          </a:p>
        </p:txBody>
      </p:sp>
      <p:sp>
        <p:nvSpPr>
          <p:cNvPr id="33" name="지원프로세스"/>
          <p:cNvSpPr/>
          <p:nvPr/>
        </p:nvSpPr>
        <p:spPr>
          <a:xfrm>
            <a:off x="365760" y="5440680"/>
            <a:ext cx="11457432" cy="4572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지원 프로세스  장비·약품 관리(P6) · 의사소통·기록(P7)  모든 단계에 걸쳐 작동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시간 목표: 압박 시작 10초 이내 · 제세동 2분 이내 · 호출~도착은 병원이 설정 (붉은 글씨 = 고장 유형)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교육·훈련·환류 고리</a:t>
            </a:r>
            <a:endParaRPr lang="en-US" sz="3000" dirty="0"/>
          </a:p>
        </p:txBody>
      </p:sp>
      <p:sp>
        <p:nvSpPr>
          <p:cNvPr id="3" name="부제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소생 현장을 받치는 고리가 끊기는 7곳</a:t>
            </a:r>
            <a:endParaRPr lang="en-US" sz="1400" dirty="0"/>
          </a:p>
        </p:txBody>
      </p:sp>
      <p:sp>
        <p:nvSpPr>
          <p:cNvPr id="4" name="고리:교육·자격 관리"/>
          <p:cNvSpPr/>
          <p:nvPr/>
        </p:nvSpPr>
        <p:spPr>
          <a:xfrm>
            <a:off x="365760" y="1554480"/>
            <a:ext cx="1280160" cy="7772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554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교육·자격 관리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9.1</a:t>
            </a:r>
            <a:endParaRPr lang="en-US" sz="1300" dirty="0"/>
          </a:p>
        </p:txBody>
      </p:sp>
      <p:sp>
        <p:nvSpPr>
          <p:cNvPr id="6" name="고리:근무 배치"/>
          <p:cNvSpPr/>
          <p:nvPr/>
        </p:nvSpPr>
        <p:spPr>
          <a:xfrm>
            <a:off x="2286000" y="1554480"/>
            <a:ext cx="1280160" cy="7772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554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근무 배치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9.1.8</a:t>
            </a:r>
            <a:endParaRPr lang="en-US" sz="1300" dirty="0"/>
          </a:p>
        </p:txBody>
      </p:sp>
      <p:sp>
        <p:nvSpPr>
          <p:cNvPr id="8" name="고리:실제 코드"/>
          <p:cNvSpPr/>
          <p:nvPr/>
        </p:nvSpPr>
        <p:spPr>
          <a:xfrm>
            <a:off x="4206240" y="1554480"/>
            <a:ext cx="128016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554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실제 코드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P2~P8</a:t>
            </a:r>
            <a:endParaRPr lang="en-US" sz="1300" dirty="0"/>
          </a:p>
        </p:txBody>
      </p:sp>
      <p:sp>
        <p:nvSpPr>
          <p:cNvPr id="10" name="고리:디브리핑·지표"/>
          <p:cNvSpPr/>
          <p:nvPr/>
        </p:nvSpPr>
        <p:spPr>
          <a:xfrm>
            <a:off x="6126480" y="1554480"/>
            <a:ext cx="1280160" cy="7772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554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디브리핑·지표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9.3</a:t>
            </a:r>
            <a:endParaRPr lang="en-US" sz="1300" dirty="0"/>
          </a:p>
        </p:txBody>
      </p:sp>
      <p:sp>
        <p:nvSpPr>
          <p:cNvPr id="12" name="고리:모의훈련"/>
          <p:cNvSpPr/>
          <p:nvPr/>
        </p:nvSpPr>
        <p:spPr>
          <a:xfrm>
            <a:off x="4206240" y="3840480"/>
            <a:ext cx="1280160" cy="7772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3840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모의훈련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9.2</a:t>
            </a:r>
            <a:endParaRPr lang="en-US" sz="1300" dirty="0"/>
          </a:p>
        </p:txBody>
      </p:sp>
      <p:sp>
        <p:nvSpPr>
          <p:cNvPr id="14" name="고리:개선 조치 추적"/>
          <p:cNvSpPr/>
          <p:nvPr/>
        </p:nvSpPr>
        <p:spPr>
          <a:xfrm>
            <a:off x="6126480" y="3840480"/>
            <a:ext cx="1280160" cy="7772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38404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개선 조치 추적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9.2.7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1943100"/>
            <a:ext cx="6400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1943100"/>
            <a:ext cx="6400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0" y="1943100"/>
            <a:ext cx="6400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6560" y="2331720"/>
            <a:ext cx="0" cy="15087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5486400" y="4229100"/>
            <a:ext cx="64008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4846320" y="2331720"/>
            <a:ext cx="0" cy="15087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66560" y="4617720"/>
            <a:ext cx="0" cy="5486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005840" y="5166360"/>
            <a:ext cx="576072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05840" y="2331720"/>
            <a:ext cx="0" cy="28346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번호1"/>
          <p:cNvSpPr/>
          <p:nvPr/>
        </p:nvSpPr>
        <p:spPr>
          <a:xfrm>
            <a:off x="1810512" y="178765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10512" y="17876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7" name="번호2"/>
          <p:cNvSpPr/>
          <p:nvPr/>
        </p:nvSpPr>
        <p:spPr>
          <a:xfrm>
            <a:off x="3730752" y="178765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30752" y="17876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번호3"/>
          <p:cNvSpPr/>
          <p:nvPr/>
        </p:nvSpPr>
        <p:spPr>
          <a:xfrm>
            <a:off x="5650992" y="178765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50992" y="17876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번호4"/>
          <p:cNvSpPr/>
          <p:nvPr/>
        </p:nvSpPr>
        <p:spPr>
          <a:xfrm>
            <a:off x="6611112" y="293065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11112" y="29306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번호5"/>
          <p:cNvSpPr/>
          <p:nvPr/>
        </p:nvSpPr>
        <p:spPr>
          <a:xfrm>
            <a:off x="5650992" y="407365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50992" y="40736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번호6"/>
          <p:cNvSpPr/>
          <p:nvPr/>
        </p:nvSpPr>
        <p:spPr>
          <a:xfrm>
            <a:off x="4690872" y="293065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90872" y="29306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7" name="번호7"/>
          <p:cNvSpPr/>
          <p:nvPr/>
        </p:nvSpPr>
        <p:spPr>
          <a:xfrm>
            <a:off x="3730752" y="501091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30752" y="5010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9" name="목록번호1"/>
          <p:cNvSpPr/>
          <p:nvPr/>
        </p:nvSpPr>
        <p:spPr>
          <a:xfrm>
            <a:off x="8001000" y="154533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01000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458200" y="150876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교육→배치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만료자 미인지, 근무표와 자격 DB 미연계</a:t>
            </a:r>
            <a:endParaRPr lang="en-US" sz="1300" dirty="0"/>
          </a:p>
        </p:txBody>
      </p:sp>
      <p:sp>
        <p:nvSpPr>
          <p:cNvPr id="42" name="목록번호2"/>
          <p:cNvSpPr/>
          <p:nvPr/>
        </p:nvSpPr>
        <p:spPr>
          <a:xfrm>
            <a:off x="8001000" y="222199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01000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458200" y="218541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배치→코드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자격 미비 인력 투입, 역할 공백</a:t>
            </a:r>
            <a:endParaRPr lang="en-US" sz="1300" dirty="0"/>
          </a:p>
        </p:txBody>
      </p:sp>
      <p:sp>
        <p:nvSpPr>
          <p:cNvPr id="45" name="목록번호3"/>
          <p:cNvSpPr/>
          <p:nvPr/>
        </p:nvSpPr>
        <p:spPr>
          <a:xfrm>
            <a:off x="8001000" y="289864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0100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458200" y="286207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코드→디브리핑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코드 후 디브리핑 미시행</a:t>
            </a:r>
            <a:endParaRPr lang="en-US" sz="1300" dirty="0"/>
          </a:p>
        </p:txBody>
      </p:sp>
      <p:sp>
        <p:nvSpPr>
          <p:cNvPr id="48" name="목록번호4"/>
          <p:cNvSpPr/>
          <p:nvPr/>
        </p:nvSpPr>
        <p:spPr>
          <a:xfrm>
            <a:off x="8001000" y="357530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001000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458200" y="353872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디브리핑→개선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지표·레지스트리 미운영</a:t>
            </a:r>
            <a:endParaRPr lang="en-US" sz="1300" dirty="0"/>
          </a:p>
        </p:txBody>
      </p:sp>
      <p:sp>
        <p:nvSpPr>
          <p:cNvPr id="51" name="목록번호5"/>
          <p:cNvSpPr/>
          <p:nvPr/>
        </p:nvSpPr>
        <p:spPr>
          <a:xfrm>
            <a:off x="8001000" y="42519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01000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458200" y="421538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개선→훈련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조치 담당·기한 미지정</a:t>
            </a:r>
            <a:endParaRPr lang="en-US" sz="1300" dirty="0"/>
          </a:p>
        </p:txBody>
      </p:sp>
      <p:sp>
        <p:nvSpPr>
          <p:cNvPr id="54" name="목록번호6"/>
          <p:cNvSpPr/>
          <p:nvPr/>
        </p:nvSpPr>
        <p:spPr>
          <a:xfrm>
            <a:off x="8001000" y="492861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001000" y="4928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458200" y="48920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훈련→코드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교육실 위주, 야간·불시·장애 요인 훈련 부재</a:t>
            </a:r>
            <a:endParaRPr lang="en-US" sz="1300" dirty="0"/>
          </a:p>
        </p:txBody>
      </p:sp>
      <p:sp>
        <p:nvSpPr>
          <p:cNvPr id="57" name="목록번호7"/>
          <p:cNvSpPr/>
          <p:nvPr/>
        </p:nvSpPr>
        <p:spPr>
          <a:xfrm>
            <a:off x="8001000" y="560527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00100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8458200" y="556869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개선→교육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가이드라인 개정 미반영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Fishbone 1 · 제세동 지연</a:t>
            </a:r>
            <a:endParaRPr lang="en-US" sz="3000" dirty="0"/>
          </a:p>
        </p:txBody>
      </p:sp>
      <p:sp>
        <p:nvSpPr>
          <p:cNvPr id="3" name="부제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굵은 주황 글씨는 5 Why에서 근본 원인으로 전개한 항목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9098280" cy="0"/>
          </a:xfrm>
          <a:prstGeom prst="line">
            <a:avLst/>
          </a:prstGeom>
          <a:noFill/>
          <a:ln w="508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결과(문제)"/>
          <p:cNvSpPr/>
          <p:nvPr/>
        </p:nvSpPr>
        <p:spPr>
          <a:xfrm>
            <a:off x="9601200" y="3108960"/>
            <a:ext cx="2148840" cy="1463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74352" y="310896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코드블루 후 제세동이 2분 넘게 지연</a:t>
            </a:r>
            <a:endParaRPr lang="en-US" sz="1500" dirty="0"/>
          </a:p>
        </p:txBody>
      </p:sp>
      <p:sp>
        <p:nvSpPr>
          <p:cNvPr id="7" name="분류:사람"/>
          <p:cNvSpPr/>
          <p:nvPr/>
        </p:nvSpPr>
        <p:spPr>
          <a:xfrm>
            <a:off x="457200" y="128016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사람</a:t>
            </a:r>
            <a:endParaRPr lang="en-US" sz="1300" dirty="0"/>
          </a:p>
        </p:txBody>
      </p:sp>
      <p:sp>
        <p:nvSpPr>
          <p:cNvPr id="9" name="원인:사람"/>
          <p:cNvSpPr/>
          <p:nvPr/>
        </p:nvSpPr>
        <p:spPr>
          <a:xfrm>
            <a:off x="457200" y="162763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9164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리더 불명확·역할 중복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충전·제세동 판단 지연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압박자 교대 지연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306324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분류:절차"/>
          <p:cNvSpPr/>
          <p:nvPr/>
        </p:nvSpPr>
        <p:spPr>
          <a:xfrm>
            <a:off x="3429000" y="128016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절차</a:t>
            </a:r>
            <a:endParaRPr lang="en-US" sz="1300" dirty="0"/>
          </a:p>
        </p:txBody>
      </p:sp>
      <p:sp>
        <p:nvSpPr>
          <p:cNvPr id="14" name="원인:절차"/>
          <p:cNvSpPr/>
          <p:nvPr/>
        </p:nvSpPr>
        <p:spPr>
          <a:xfrm>
            <a:off x="3429000" y="162763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169164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압박 중 충전 프로토콜 부재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안전 확인 절차 혼란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호출~제세동 시간 미측정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7" name="분류:장비"/>
          <p:cNvSpPr/>
          <p:nvPr/>
        </p:nvSpPr>
        <p:spPr>
          <a:xfrm>
            <a:off x="6400800" y="128016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장비</a:t>
            </a:r>
            <a:endParaRPr lang="en-US" sz="1300" dirty="0"/>
          </a:p>
        </p:txBody>
      </p:sp>
      <p:sp>
        <p:nvSpPr>
          <p:cNvPr id="19" name="원인:장비"/>
          <p:cNvSpPr/>
          <p:nvPr/>
        </p:nvSpPr>
        <p:spPr>
          <a:xfrm>
            <a:off x="6400800" y="162763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169164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제세동기 도착 지연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배터리 방전·패드 만료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기종 혼재·Sync 모드 잔존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306324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2" name="분류:환경·시설"/>
          <p:cNvSpPr/>
          <p:nvPr/>
        </p:nvSpPr>
        <p:spPr>
          <a:xfrm>
            <a:off x="457200" y="461772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617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환경·시설</a:t>
            </a:r>
            <a:endParaRPr lang="en-US" sz="1300" dirty="0"/>
          </a:p>
        </p:txBody>
      </p:sp>
      <p:sp>
        <p:nvSpPr>
          <p:cNvPr id="24" name="원인:환경·시설"/>
          <p:cNvSpPr/>
          <p:nvPr/>
        </p:nvSpPr>
        <p:spPr>
          <a:xfrm>
            <a:off x="457200" y="496519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02920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층·구역별 배치 부족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복도 적치물·잠긴 방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엘리베이터 대기·출입통제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V="1">
            <a:off x="1874520" y="384048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7" name="분류:의사소통"/>
          <p:cNvSpPr/>
          <p:nvPr/>
        </p:nvSpPr>
        <p:spPr>
          <a:xfrm>
            <a:off x="3429000" y="461772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4617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의사소통</a:t>
            </a:r>
            <a:endParaRPr lang="en-US" sz="1300" dirty="0"/>
          </a:p>
        </p:txBody>
      </p:sp>
      <p:sp>
        <p:nvSpPr>
          <p:cNvPr id="29" name="원인:의사소통"/>
          <p:cNvSpPr/>
          <p:nvPr/>
        </p:nvSpPr>
        <p:spPr>
          <a:xfrm>
            <a:off x="3429000" y="496519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0440" y="502920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호출 지연·내선 불통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위치 오전달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복창 누락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flipV="1">
            <a:off x="4846320" y="384048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32" name="분류:교육·관리"/>
          <p:cNvSpPr/>
          <p:nvPr/>
        </p:nvSpPr>
        <p:spPr>
          <a:xfrm>
            <a:off x="6400800" y="461772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4617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교육·관리</a:t>
            </a:r>
            <a:endParaRPr lang="en-US" sz="1300" dirty="0"/>
          </a:p>
        </p:txBody>
      </p:sp>
      <p:sp>
        <p:nvSpPr>
          <p:cNvPr id="34" name="원인:교육·관리"/>
          <p:cNvSpPr/>
          <p:nvPr/>
        </p:nvSpPr>
        <p:spPr>
          <a:xfrm>
            <a:off x="6400800" y="496519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502920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장비별 실습 부족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야간·불시 훈련 부재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점검 형식화, 감사 부재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V="1">
            <a:off x="7818120" y="384048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Why 1 · 제세동 지연</a:t>
            </a:r>
            <a:endParaRPr lang="en-US" sz="3000" dirty="0"/>
          </a:p>
        </p:txBody>
      </p:sp>
      <p:sp>
        <p:nvSpPr>
          <p:cNvPr id="3" name="부제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Fishbone 1에서 가장 영향이 큰 가지를 따라 내려간 분석</a:t>
            </a:r>
            <a:endParaRPr lang="en-US" sz="1400" dirty="0"/>
          </a:p>
        </p:txBody>
      </p:sp>
      <p:sp>
        <p:nvSpPr>
          <p:cNvPr id="4" name="문제"/>
          <p:cNvSpPr/>
          <p:nvPr/>
        </p:nvSpPr>
        <p:spPr>
          <a:xfrm>
            <a:off x="457200" y="1325880"/>
            <a:ext cx="795528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문제  심정지 환자의 제세동이 목표 2분을 넘겨 시행됨</a:t>
            </a:r>
            <a:endParaRPr lang="en-US" sz="1500" dirty="0"/>
          </a:p>
        </p:txBody>
      </p:sp>
      <p:sp>
        <p:nvSpPr>
          <p:cNvPr id="6" name="왜1"/>
          <p:cNvSpPr/>
          <p:nvPr/>
        </p:nvSpPr>
        <p:spPr>
          <a:xfrm>
            <a:off x="457200" y="2011680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왜번호1"/>
          <p:cNvSpPr/>
          <p:nvPr/>
        </p:nvSpPr>
        <p:spPr>
          <a:xfrm>
            <a:off x="566928" y="21396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1168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제세동이 2분 넘게 늦어졌나?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제세동기가 현장에 늦게 도착했다.</a:t>
            </a:r>
            <a:endParaRPr lang="en-US" sz="1300" dirty="0"/>
          </a:p>
        </p:txBody>
      </p:sp>
      <p:sp>
        <p:nvSpPr>
          <p:cNvPr id="10" name="단계화살표1"/>
          <p:cNvSpPr/>
          <p:nvPr/>
        </p:nvSpPr>
        <p:spPr>
          <a:xfrm>
            <a:off x="4343400" y="2724912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왜2"/>
          <p:cNvSpPr/>
          <p:nvPr/>
        </p:nvSpPr>
        <p:spPr>
          <a:xfrm>
            <a:off x="457200" y="2798064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왜번호2"/>
          <p:cNvSpPr/>
          <p:nvPr/>
        </p:nvSpPr>
        <p:spPr>
          <a:xfrm>
            <a:off x="566928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79806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늦게 도착했나?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가까운 제세동기 위치를 몰라 찾거나 다른 층에서 가져왔다.</a:t>
            </a:r>
            <a:endParaRPr lang="en-US" sz="1300" dirty="0"/>
          </a:p>
        </p:txBody>
      </p:sp>
      <p:sp>
        <p:nvSpPr>
          <p:cNvPr id="15" name="단계화살표2"/>
          <p:cNvSpPr/>
          <p:nvPr/>
        </p:nvSpPr>
        <p:spPr>
          <a:xfrm>
            <a:off x="4343400" y="3511296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왜3"/>
          <p:cNvSpPr/>
          <p:nvPr/>
        </p:nvSpPr>
        <p:spPr>
          <a:xfrm>
            <a:off x="457200" y="3584448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왜번호3"/>
          <p:cNvSpPr/>
          <p:nvPr/>
        </p:nvSpPr>
        <p:spPr>
          <a:xfrm>
            <a:off x="566928" y="37124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8444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위치를 몰랐나?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구역별 배치 지도와 표지가 없고 장비가 임의 장소에 보관된다.</a:t>
            </a:r>
            <a:endParaRPr lang="en-US" sz="1300" dirty="0"/>
          </a:p>
        </p:txBody>
      </p:sp>
      <p:sp>
        <p:nvSpPr>
          <p:cNvPr id="20" name="단계화살표3"/>
          <p:cNvSpPr/>
          <p:nvPr/>
        </p:nvSpPr>
        <p:spPr>
          <a:xfrm>
            <a:off x="4343400" y="4297680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왜4"/>
          <p:cNvSpPr/>
          <p:nvPr/>
        </p:nvSpPr>
        <p:spPr>
          <a:xfrm>
            <a:off x="457200" y="4370832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왜번호4"/>
          <p:cNvSpPr/>
          <p:nvPr/>
        </p:nvSpPr>
        <p:spPr>
          <a:xfrm>
            <a:off x="566928" y="44988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37083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배치 기준이 없나?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도착 시간 목표가 정의되지 않았고, 점검은 작동 여부만 확인한다.</a:t>
            </a:r>
            <a:endParaRPr lang="en-US" sz="1300" dirty="0"/>
          </a:p>
        </p:txBody>
      </p:sp>
      <p:sp>
        <p:nvSpPr>
          <p:cNvPr id="25" name="단계화살표4"/>
          <p:cNvSpPr/>
          <p:nvPr/>
        </p:nvSpPr>
        <p:spPr>
          <a:xfrm>
            <a:off x="4343400" y="5084064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왜5"/>
          <p:cNvSpPr/>
          <p:nvPr/>
        </p:nvSpPr>
        <p:spPr>
          <a:xfrm>
            <a:off x="457200" y="5157216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왜번호5"/>
          <p:cNvSpPr/>
          <p:nvPr/>
        </p:nvSpPr>
        <p:spPr>
          <a:xfrm>
            <a:off x="566928" y="52852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515721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목표와 기준이 없나?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호출~제세동 시간을 측정·검토하는 체계가 없어 지연이 드러나지 않는다.</a:t>
            </a:r>
            <a:endParaRPr lang="en-US" sz="1300" dirty="0"/>
          </a:p>
        </p:txBody>
      </p:sp>
      <p:sp>
        <p:nvSpPr>
          <p:cNvPr id="30" name="근본원인"/>
          <p:cNvSpPr/>
          <p:nvPr/>
        </p:nvSpPr>
        <p:spPr>
          <a:xfrm>
            <a:off x="8686800" y="1325880"/>
            <a:ext cx="3063240" cy="1737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0" y="14173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근본 원인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코드블루 시간 지표를 측정하고 환류하는 체계가 없다</a:t>
            </a:r>
            <a:endParaRPr lang="en-US" sz="1200" dirty="0"/>
          </a:p>
        </p:txBody>
      </p:sp>
      <p:sp>
        <p:nvSpPr>
          <p:cNvPr id="32" name="대책"/>
          <p:cNvSpPr/>
          <p:nvPr/>
        </p:nvSpPr>
        <p:spPr>
          <a:xfrm>
            <a:off x="8686800" y="3200400"/>
            <a:ext cx="306324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69680" y="329184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핵심 대책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구역별 배치 지도와 도착 기준(3분) 설정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자가진단 장비와 점검 감사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호출~제세동 시간 기록, 분기 검토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코드 후 10분 디브리핑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989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일반적 병원 상황을 가정한 분석 예시입니다. 실제 원인은 현장 조사로 검증하세요.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Fishbone 2 · 소생 역량 유지 실패</a:t>
            </a:r>
            <a:endParaRPr lang="en-US" sz="3000" dirty="0"/>
          </a:p>
        </p:txBody>
      </p:sp>
      <p:sp>
        <p:nvSpPr>
          <p:cNvPr id="3" name="부제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굵은 주황 글씨는 5 Why에서 근본 원인으로 전개한 항목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9098280" cy="0"/>
          </a:xfrm>
          <a:prstGeom prst="line">
            <a:avLst/>
          </a:prstGeom>
          <a:noFill/>
          <a:ln w="508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결과(문제)"/>
          <p:cNvSpPr/>
          <p:nvPr/>
        </p:nvSpPr>
        <p:spPr>
          <a:xfrm>
            <a:off x="9601200" y="3108960"/>
            <a:ext cx="2148840" cy="1463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74352" y="3108960"/>
            <a:ext cx="2002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자격 미비 인력이 투입되고 훈련이 취약점을 못 찾음</a:t>
            </a:r>
            <a:endParaRPr lang="en-US" sz="1500" dirty="0"/>
          </a:p>
        </p:txBody>
      </p:sp>
      <p:sp>
        <p:nvSpPr>
          <p:cNvPr id="7" name="분류:사람"/>
          <p:cNvSpPr/>
          <p:nvPr/>
        </p:nvSpPr>
        <p:spPr>
          <a:xfrm>
            <a:off x="457200" y="128016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사람</a:t>
            </a:r>
            <a:endParaRPr lang="en-US" sz="1300" dirty="0"/>
          </a:p>
        </p:txBody>
      </p:sp>
      <p:sp>
        <p:nvSpPr>
          <p:cNvPr id="9" name="원인:사람"/>
          <p:cNvSpPr/>
          <p:nvPr/>
        </p:nvSpPr>
        <p:spPr>
          <a:xfrm>
            <a:off x="457200" y="162763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9164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신규·비정규·전공의 미이수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훈련 참여자가 소수·반복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핵심 직종 불참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74520" y="306324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분류:규정·절차"/>
          <p:cNvSpPr/>
          <p:nvPr/>
        </p:nvSpPr>
        <p:spPr>
          <a:xfrm>
            <a:off x="3429000" y="128016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규정·절차</a:t>
            </a:r>
            <a:endParaRPr lang="en-US" sz="1300" dirty="0"/>
          </a:p>
        </p:txBody>
      </p:sp>
      <p:sp>
        <p:nvSpPr>
          <p:cNvPr id="14" name="원인:규정·절차"/>
          <p:cNvSpPr/>
          <p:nvPr/>
        </p:nvSpPr>
        <p:spPr>
          <a:xfrm>
            <a:off x="3429000" y="162763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169164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필수 자격 매트릭스 부재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미이수자 근무 제한 규정 없음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불시·야간 훈련 지침 부재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7" name="분류:시스템(IT)"/>
          <p:cNvSpPr/>
          <p:nvPr/>
        </p:nvSpPr>
        <p:spPr>
          <a:xfrm>
            <a:off x="6400800" y="128016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2801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시스템(IT)</a:t>
            </a:r>
            <a:endParaRPr lang="en-US" sz="1300" dirty="0"/>
          </a:p>
        </p:txBody>
      </p:sp>
      <p:sp>
        <p:nvSpPr>
          <p:cNvPr id="19" name="원인:시스템(IT)"/>
          <p:cNvSpPr/>
          <p:nvPr/>
        </p:nvSpPr>
        <p:spPr>
          <a:xfrm>
            <a:off x="6400800" y="162763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169164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자격 DB와 근무표 미연계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만료 알림 없음, 수기 엑셀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인사 변동 자동 반영 안 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306324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2" name="분류:교육 내용"/>
          <p:cNvSpPr/>
          <p:nvPr/>
        </p:nvSpPr>
        <p:spPr>
          <a:xfrm>
            <a:off x="457200" y="461772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617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교육 내용</a:t>
            </a:r>
            <a:endParaRPr lang="en-US" sz="1300" dirty="0"/>
          </a:p>
        </p:txBody>
      </p:sp>
      <p:sp>
        <p:nvSpPr>
          <p:cNvPr id="24" name="원인:교육 내용"/>
          <p:cNvSpPr/>
          <p:nvPr/>
        </p:nvSpPr>
        <p:spPr>
          <a:xfrm>
            <a:off x="457200" y="496519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02920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이론 위주, 실기 평가 부족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강사 간 편차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가이드라인 개정 지연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V="1">
            <a:off x="1874520" y="384048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7" name="분류:훈련 설계"/>
          <p:cNvSpPr/>
          <p:nvPr/>
        </p:nvSpPr>
        <p:spPr>
          <a:xfrm>
            <a:off x="3429000" y="461772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4617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훈련 설계</a:t>
            </a:r>
            <a:endParaRPr lang="en-US" sz="1300" dirty="0"/>
          </a:p>
        </p:txBody>
      </p:sp>
      <p:sp>
        <p:nvSpPr>
          <p:cNvPr id="29" name="원인:훈련 설계"/>
          <p:cNvSpPr/>
          <p:nvPr/>
        </p:nvSpPr>
        <p:spPr>
          <a:xfrm>
            <a:off x="3429000" y="496519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0440" y="502920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교육실 위주, 현장 훈련 부족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호출 불통 등 장애 요인 미반영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객관적 지표 없는 평가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flipV="1">
            <a:off x="4846320" y="384048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32" name="분류:관리·환류"/>
          <p:cNvSpPr/>
          <p:nvPr/>
        </p:nvSpPr>
        <p:spPr>
          <a:xfrm>
            <a:off x="6400800" y="4617720"/>
            <a:ext cx="283464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92240" y="4617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관리·환류</a:t>
            </a:r>
            <a:endParaRPr lang="en-US" sz="1300" dirty="0"/>
          </a:p>
        </p:txBody>
      </p:sp>
      <p:sp>
        <p:nvSpPr>
          <p:cNvPr id="34" name="원인:관리·환류"/>
          <p:cNvSpPr/>
          <p:nvPr/>
        </p:nvSpPr>
        <p:spPr>
          <a:xfrm>
            <a:off x="6400800" y="4965192"/>
            <a:ext cx="2834640" cy="143560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502920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chemeClr val="accent2"/>
                </a:solidFill>
              </a:rPr>
              <a:t>이수율 지표 미보고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조치 담당·기한 미지정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경영진 보고 체계 없음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V="1">
            <a:off x="7818120" y="3840480"/>
            <a:ext cx="411480" cy="77724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Why 2 · 자격 미비 투입</a:t>
            </a:r>
            <a:endParaRPr lang="en-US" sz="3000" dirty="0"/>
          </a:p>
        </p:txBody>
      </p:sp>
      <p:sp>
        <p:nvSpPr>
          <p:cNvPr id="3" name="부제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자격 만료·미이수 인력이 코드팀에 배치되는 문제</a:t>
            </a:r>
            <a:endParaRPr lang="en-US" sz="1400" dirty="0"/>
          </a:p>
        </p:txBody>
      </p:sp>
      <p:sp>
        <p:nvSpPr>
          <p:cNvPr id="4" name="문제"/>
          <p:cNvSpPr/>
          <p:nvPr/>
        </p:nvSpPr>
        <p:spPr>
          <a:xfrm>
            <a:off x="457200" y="1325880"/>
            <a:ext cx="795528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문제  자격이 만료되었거나 미이수인 인력이 코드팀에 투입됨</a:t>
            </a:r>
            <a:endParaRPr lang="en-US" sz="1500" dirty="0"/>
          </a:p>
        </p:txBody>
      </p:sp>
      <p:sp>
        <p:nvSpPr>
          <p:cNvPr id="6" name="왜1"/>
          <p:cNvSpPr/>
          <p:nvPr/>
        </p:nvSpPr>
        <p:spPr>
          <a:xfrm>
            <a:off x="457200" y="2011680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왜번호1"/>
          <p:cNvSpPr/>
          <p:nvPr/>
        </p:nvSpPr>
        <p:spPr>
          <a:xfrm>
            <a:off x="566928" y="21396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1168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투입되었나?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근무 배치 때 자격을 확인하지 않았다.</a:t>
            </a:r>
            <a:endParaRPr lang="en-US" sz="1300" dirty="0"/>
          </a:p>
        </p:txBody>
      </p:sp>
      <p:sp>
        <p:nvSpPr>
          <p:cNvPr id="10" name="단계화살표1"/>
          <p:cNvSpPr/>
          <p:nvPr/>
        </p:nvSpPr>
        <p:spPr>
          <a:xfrm>
            <a:off x="4343400" y="2724912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왜2"/>
          <p:cNvSpPr/>
          <p:nvPr/>
        </p:nvSpPr>
        <p:spPr>
          <a:xfrm>
            <a:off x="457200" y="2798064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왜번호2"/>
          <p:cNvSpPr/>
          <p:nvPr/>
        </p:nvSpPr>
        <p:spPr>
          <a:xfrm>
            <a:off x="566928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79806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확인하지 않았나?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근무표 작성자가 직원의 자격 현황을 볼 수 없다.</a:t>
            </a:r>
            <a:endParaRPr lang="en-US" sz="1300" dirty="0"/>
          </a:p>
        </p:txBody>
      </p:sp>
      <p:sp>
        <p:nvSpPr>
          <p:cNvPr id="15" name="단계화살표2"/>
          <p:cNvSpPr/>
          <p:nvPr/>
        </p:nvSpPr>
        <p:spPr>
          <a:xfrm>
            <a:off x="4343400" y="3511296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왜3"/>
          <p:cNvSpPr/>
          <p:nvPr/>
        </p:nvSpPr>
        <p:spPr>
          <a:xfrm>
            <a:off x="457200" y="3584448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왜번호3"/>
          <p:cNvSpPr/>
          <p:nvPr/>
        </p:nvSpPr>
        <p:spPr>
          <a:xfrm>
            <a:off x="566928" y="37124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8444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볼 수 없나?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자격은 교육 부서 엑셀에, 근무표는 부서별로 따로 관리한다.</a:t>
            </a:r>
            <a:endParaRPr lang="en-US" sz="1300" dirty="0"/>
          </a:p>
        </p:txBody>
      </p:sp>
      <p:sp>
        <p:nvSpPr>
          <p:cNvPr id="20" name="단계화살표3"/>
          <p:cNvSpPr/>
          <p:nvPr/>
        </p:nvSpPr>
        <p:spPr>
          <a:xfrm>
            <a:off x="4343400" y="4297680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왜4"/>
          <p:cNvSpPr/>
          <p:nvPr/>
        </p:nvSpPr>
        <p:spPr>
          <a:xfrm>
            <a:off x="457200" y="4370832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왜번호4"/>
          <p:cNvSpPr/>
          <p:nvPr/>
        </p:nvSpPr>
        <p:spPr>
          <a:xfrm>
            <a:off x="566928" y="44988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37083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따로 관리하나?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필수 자격 기준과 통합 시스템이 없고 인사·교육·부서의 책임이 나뉘어 있다.</a:t>
            </a:r>
            <a:endParaRPr lang="en-US" sz="1300" dirty="0"/>
          </a:p>
        </p:txBody>
      </p:sp>
      <p:sp>
        <p:nvSpPr>
          <p:cNvPr id="25" name="단계화살표4"/>
          <p:cNvSpPr/>
          <p:nvPr/>
        </p:nvSpPr>
        <p:spPr>
          <a:xfrm>
            <a:off x="4343400" y="5084064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왜5"/>
          <p:cNvSpPr/>
          <p:nvPr/>
        </p:nvSpPr>
        <p:spPr>
          <a:xfrm>
            <a:off x="457200" y="5157216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왜번호5"/>
          <p:cNvSpPr/>
          <p:nvPr/>
        </p:nvSpPr>
        <p:spPr>
          <a:xfrm>
            <a:off x="566928" y="52852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515721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책임이 불명확한가?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자격 보유율·이수율이 질 지표로 정의되거나 보고되지 않는다.</a:t>
            </a:r>
            <a:endParaRPr lang="en-US" sz="1300" dirty="0"/>
          </a:p>
        </p:txBody>
      </p:sp>
      <p:sp>
        <p:nvSpPr>
          <p:cNvPr id="30" name="근본원인"/>
          <p:cNvSpPr/>
          <p:nvPr/>
        </p:nvSpPr>
        <p:spPr>
          <a:xfrm>
            <a:off x="8686800" y="1325880"/>
            <a:ext cx="3063240" cy="1737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0" y="14173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근본 원인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자격 관리의 책임·지표·시스템이 없다</a:t>
            </a:r>
            <a:endParaRPr lang="en-US" sz="1200" dirty="0"/>
          </a:p>
        </p:txBody>
      </p:sp>
      <p:sp>
        <p:nvSpPr>
          <p:cNvPr id="32" name="대책"/>
          <p:cNvSpPr/>
          <p:nvPr/>
        </p:nvSpPr>
        <p:spPr>
          <a:xfrm>
            <a:off x="8686800" y="3200400"/>
            <a:ext cx="306324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69680" y="329184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핵심 대책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직종·역할별 필수 자격 매트릭스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LMS 일원화, 만료 90/60/30일 알림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근무표와 자격 DB 연계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월간 이수율 보고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989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일반적 병원 상황을 가정한 분석 예시입니다. 실제 원인은 현장 조사로 검증하세요.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Why 3 · 병동 인지·호출 지연</a:t>
            </a:r>
            <a:endParaRPr lang="en-US" sz="3000" dirty="0"/>
          </a:p>
        </p:txBody>
      </p:sp>
      <p:sp>
        <p:nvSpPr>
          <p:cNvPr id="3" name="부제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병동에서 심정지 인지와 Code Blue 호출이 늦는 문제</a:t>
            </a:r>
            <a:endParaRPr lang="en-US" sz="1400" dirty="0"/>
          </a:p>
        </p:txBody>
      </p:sp>
      <p:sp>
        <p:nvSpPr>
          <p:cNvPr id="4" name="문제"/>
          <p:cNvSpPr/>
          <p:nvPr/>
        </p:nvSpPr>
        <p:spPr>
          <a:xfrm>
            <a:off x="457200" y="1325880"/>
            <a:ext cx="795528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문제  병동에서 심정지 인지 후 Code Blue 호출까지 지체됨</a:t>
            </a:r>
            <a:endParaRPr lang="en-US" sz="1500" dirty="0"/>
          </a:p>
        </p:txBody>
      </p:sp>
      <p:sp>
        <p:nvSpPr>
          <p:cNvPr id="6" name="왜1"/>
          <p:cNvSpPr/>
          <p:nvPr/>
        </p:nvSpPr>
        <p:spPr>
          <a:xfrm>
            <a:off x="457200" y="2011680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왜번호1"/>
          <p:cNvSpPr/>
          <p:nvPr/>
        </p:nvSpPr>
        <p:spPr>
          <a:xfrm>
            <a:off x="566928" y="21396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1168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호출이 지체되었나?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먼저 의사를 찾거나 호출 번호를 확인하느라 시간이 걸렸다.</a:t>
            </a:r>
            <a:endParaRPr lang="en-US" sz="1300" dirty="0"/>
          </a:p>
        </p:txBody>
      </p:sp>
      <p:sp>
        <p:nvSpPr>
          <p:cNvPr id="10" name="단계화살표1"/>
          <p:cNvSpPr/>
          <p:nvPr/>
        </p:nvSpPr>
        <p:spPr>
          <a:xfrm>
            <a:off x="4343400" y="2724912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왜2"/>
          <p:cNvSpPr/>
          <p:nvPr/>
        </p:nvSpPr>
        <p:spPr>
          <a:xfrm>
            <a:off x="457200" y="2798064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왜번호2"/>
          <p:cNvSpPr/>
          <p:nvPr/>
        </p:nvSpPr>
        <p:spPr>
          <a:xfrm>
            <a:off x="566928" y="2926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79806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의사를 찾거나 번호를 확인했나?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호출 번호가 별관별로 다르고 호출 권한이 모호하다.</a:t>
            </a:r>
            <a:endParaRPr lang="en-US" sz="1300" dirty="0"/>
          </a:p>
        </p:txBody>
      </p:sp>
      <p:sp>
        <p:nvSpPr>
          <p:cNvPr id="15" name="단계화살표2"/>
          <p:cNvSpPr/>
          <p:nvPr/>
        </p:nvSpPr>
        <p:spPr>
          <a:xfrm>
            <a:off x="4343400" y="3511296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왜3"/>
          <p:cNvSpPr/>
          <p:nvPr/>
        </p:nvSpPr>
        <p:spPr>
          <a:xfrm>
            <a:off x="457200" y="3584448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왜번호3"/>
          <p:cNvSpPr/>
          <p:nvPr/>
        </p:nvSpPr>
        <p:spPr>
          <a:xfrm>
            <a:off x="566928" y="37124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8444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모호한가?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호출 절차가 규정에는 있으나 벽면 표지·버튼·교육에 반영되지 않았다.</a:t>
            </a:r>
            <a:endParaRPr lang="en-US" sz="1300" dirty="0"/>
          </a:p>
        </p:txBody>
      </p:sp>
      <p:sp>
        <p:nvSpPr>
          <p:cNvPr id="20" name="단계화살표3"/>
          <p:cNvSpPr/>
          <p:nvPr/>
        </p:nvSpPr>
        <p:spPr>
          <a:xfrm>
            <a:off x="4343400" y="4297680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왜4"/>
          <p:cNvSpPr/>
          <p:nvPr/>
        </p:nvSpPr>
        <p:spPr>
          <a:xfrm>
            <a:off x="457200" y="4370832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왜번호4"/>
          <p:cNvSpPr/>
          <p:nvPr/>
        </p:nvSpPr>
        <p:spPr>
          <a:xfrm>
            <a:off x="566928" y="44988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37083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반영되지 않았나?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모의훈련이 교육실 위주여서 병동의 호출 과정이 시험된 적이 없다.</a:t>
            </a:r>
            <a:endParaRPr lang="en-US" sz="1300" dirty="0"/>
          </a:p>
        </p:txBody>
      </p:sp>
      <p:sp>
        <p:nvSpPr>
          <p:cNvPr id="25" name="단계화살표4"/>
          <p:cNvSpPr/>
          <p:nvPr/>
        </p:nvSpPr>
        <p:spPr>
          <a:xfrm>
            <a:off x="4343400" y="5084064"/>
            <a:ext cx="182880" cy="73152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왜5"/>
          <p:cNvSpPr/>
          <p:nvPr/>
        </p:nvSpPr>
        <p:spPr>
          <a:xfrm>
            <a:off x="457200" y="5157216"/>
            <a:ext cx="7955280" cy="713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왜번호5"/>
          <p:cNvSpPr/>
          <p:nvPr/>
        </p:nvSpPr>
        <p:spPr>
          <a:xfrm>
            <a:off x="566928" y="52852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5285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515721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왜 시험되지 않았나?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현장 훈련을 계획·예산·담당자로 운영하는 체계가 없다.</a:t>
            </a:r>
            <a:endParaRPr lang="en-US" sz="1300" dirty="0"/>
          </a:p>
        </p:txBody>
      </p:sp>
      <p:sp>
        <p:nvSpPr>
          <p:cNvPr id="30" name="근본원인"/>
          <p:cNvSpPr/>
          <p:nvPr/>
        </p:nvSpPr>
        <p:spPr>
          <a:xfrm>
            <a:off x="8686800" y="1325880"/>
            <a:ext cx="3063240" cy="1737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0" y="14173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근본 원인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병동 현장(in-situ) 훈련 체계가 없다</a:t>
            </a:r>
            <a:endParaRPr lang="en-US" sz="1200" dirty="0"/>
          </a:p>
        </p:txBody>
      </p:sp>
      <p:sp>
        <p:nvSpPr>
          <p:cNvPr id="32" name="대책"/>
          <p:cNvSpPr/>
          <p:nvPr/>
        </p:nvSpPr>
        <p:spPr>
          <a:xfrm>
            <a:off x="8686800" y="3200400"/>
            <a:ext cx="306324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69680" y="3291840"/>
            <a:ext cx="2697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핵심 대책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원내 단일 호출번호, 벽면 호출 버튼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병동 in-situ 훈련 분기 1회 이상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야간·불시 훈련과 호출~도착 시간 측정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989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일반적 병원 상황을 가정한 분석 예시입니다. 실제 원인은 현장 조사로 검증하세요.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원인과 개선 과제</a:t>
            </a:r>
            <a:endParaRPr lang="en-US" sz="3000" dirty="0"/>
          </a:p>
        </p:txBody>
      </p:sp>
      <p:sp>
        <p:nvSpPr>
          <p:cNvPr id="3" name="부제"/>
          <p:cNvSpPr txBox="1"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5 Why로 도출한 근본 원인을 대책, FMEA ID, 지표와 연결</a:t>
            </a:r>
            <a:endParaRPr lang="en-US" sz="1400" dirty="0"/>
          </a:p>
        </p:txBody>
      </p:sp>
      <p:graphicFrame>
        <p:nvGraphicFramePr>
          <p:cNvPr id="11" name="개선과제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3749040"/>
                <a:gridCol w="1828800"/>
                <a:gridCol w="22219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근본 원인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우선순위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핵심 대책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관련 FMEA 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성과 지표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측정·환류 체계 부재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코드 레지스트리와 시간 지표, 코드 후 10분 디브리핑, 분기 보고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9.3.1 · 9.3.2 · 7.2.1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호출~제세동 시간 중앙값, 디브리핑 시행률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장비 배치·점검 기준 미정의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구역별 배치 지도, 3분 도착 기준, 자가진단 장비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4.3.1 · 4.3.2 · 6.2.1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제세동기 3분 도착률, 점검 이행률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자격 관리 책임·시스템 부재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필수 자격 매트릭스, LMS 일원화, 근무표 연계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9.1.5 · 9.1.10 · 9.1.16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자격 보유율, 만료자 투입 0건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현장 훈련 체계 부재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높음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병동 in-situ·야간·불시 훈련, 단일 호출번호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9.2.5 ~ 9.2.7 · 3.1.1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훈련 시행률, 호출~도착 시간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조치 추적 체계 부재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중간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담당·기한 지정, 월간 위원회 추적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9.2.15 · 9.2.16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조치 완료율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우선순위와 연결 ID는 CPR_FMEA_워크시트.xlsx의 행과 같습니다. 점수는 초안이므로 팀 합의로 재평가하세요.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5943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다음 단계</a:t>
            </a:r>
            <a:endParaRPr lang="en-US" sz="4000" dirty="0"/>
          </a:p>
        </p:txBody>
      </p:sp>
      <p:sp>
        <p:nvSpPr>
          <p:cNvPr id="3" name="단계번호1"/>
          <p:cNvSpPr/>
          <p:nvPr/>
        </p:nvSpPr>
        <p:spPr>
          <a:xfrm>
            <a:off x="731520" y="20116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965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현장 조사로 원인 검증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실제 코드 사례, 사건보고, 호출~제세동 시간 자료로 5 Why 답을 확인합니다.</a:t>
            </a:r>
            <a:endParaRPr lang="en-US" sz="2200" dirty="0"/>
          </a:p>
        </p:txBody>
      </p:sp>
      <p:sp>
        <p:nvSpPr>
          <p:cNvPr id="6" name="단계번호2"/>
          <p:cNvSpPr/>
          <p:nvPr/>
        </p:nvSpPr>
        <p:spPr>
          <a:xfrm>
            <a:off x="731520" y="33832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337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FMEA 점수 재평가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S/O/D를 팀 합의로 조정하고 우선순위를 확정합니다.</a:t>
            </a:r>
            <a:endParaRPr lang="en-US" sz="2200" dirty="0"/>
          </a:p>
        </p:txBody>
      </p:sp>
      <p:sp>
        <p:nvSpPr>
          <p:cNvPr id="9" name="단계번호3"/>
          <p:cNvSpPr/>
          <p:nvPr/>
        </p:nvSpPr>
        <p:spPr>
          <a:xfrm>
            <a:off x="731520" y="47548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754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7091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개선 과제 운영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담당과 기한을 지정하고 월간 추적, 분기 효과 평가로 PDCA를 돌립니다.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R 원인분석">
  <a:themeElements>
    <a:clrScheme name="CPR 원인분석">
      <a:dk1>
        <a:srgbClr val="1B2A2D"/>
      </a:dk1>
      <a:lt1>
        <a:srgbClr val="FFFFFF"/>
      </a:lt1>
      <a:dk2>
        <a:srgbClr val="0F3D3A"/>
      </a:dk2>
      <a:lt2>
        <a:srgbClr val="EAF2F1"/>
      </a:lt2>
      <a:accent1>
        <a:srgbClr val="0E6B63"/>
      </a:accent1>
      <a:accent2>
        <a:srgbClr val="C2410C"/>
      </a:accent2>
      <a:accent3>
        <a:srgbClr val="6B7C80"/>
      </a:accent3>
      <a:accent4>
        <a:srgbClr val="D9A441"/>
      </a:accent4>
      <a:accent5>
        <a:srgbClr val="2F7FA3"/>
      </a:accent5>
      <a:accent6>
        <a:srgbClr val="5B8C5A"/>
      </a:accent6>
      <a:hlink>
        <a:srgbClr val="0E6B63"/>
      </a:hlink>
      <a:folHlink>
        <a:srgbClr val="6B7C80"/>
      </a:folHlink>
    </a:clrScheme>
    <a:fontScheme name="CPR 원인분석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CPR 프로세스 분석 및 원인분석</dc:title>
  <dc:subject>PptxGenJS Presentation</dc:subject>
  <dc:creator>Claude</dc:creator>
  <cp:lastModifiedBy>Claude</cp:lastModifiedBy>
  <cp:revision>1</cp:revision>
  <dcterms:created xsi:type="dcterms:W3CDTF">2026-10-05T13:52:30Z</dcterms:created>
  <dcterms:modified xsi:type="dcterms:W3CDTF">2026-10-05T13:52:30Z</dcterms:modified>
</cp:coreProperties>
</file>